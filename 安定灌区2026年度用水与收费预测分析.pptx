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月度用水量对比 (m³)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2025年实际</c:v>
                </c:pt>
              </c:strCache>
            </c:strRef>
          </c:tx>
          <c:spPr>
            <a:solidFill>
              <a:srgbClr val="C0504D"/>
            </a:solidFill>
            <a:effectLst>
              <a:outerShdw sx="100000" sy="100000" kx="0" ky="0" algn="bl" blurRad="50800" rotWithShape="1" dist="25400" dir="5400000">
                <a:srgbClr val="BDC3C7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  <c:pt idx="6">
                    <c:v>9月</c:v>
                  </c:pt>
                  <c:pt idx="7">
                    <c:v>10月</c:v>
                  </c:pt>
                  <c:pt idx="8">
                    <c:v>11月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22886</c:v>
                </c:pt>
                <c:pt idx="3">
                  <c:v>150153</c:v>
                </c:pt>
                <c:pt idx="4">
                  <c:v>164926</c:v>
                </c:pt>
                <c:pt idx="5">
                  <c:v>167224</c:v>
                </c:pt>
                <c:pt idx="6">
                  <c:v>45076</c:v>
                </c:pt>
                <c:pt idx="7">
                  <c:v>1082</c:v>
                </c:pt>
                <c:pt idx="8">
                  <c:v>1015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2026年实际</c:v>
                </c:pt>
              </c:strCache>
            </c:strRef>
          </c:tx>
          <c:spPr>
            <a:solidFill>
              <a:srgbClr val="4F81BD"/>
            </a:solidFill>
            <a:effectLst>
              <a:outerShdw sx="100000" sy="100000" kx="0" ky="0" algn="bl" blurRad="50800" rotWithShape="1" dist="25400" dir="5400000">
                <a:srgbClr val="BDC3C7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  <c:pt idx="6">
                    <c:v>9月</c:v>
                  </c:pt>
                  <c:pt idx="7">
                    <c:v>10月</c:v>
                  </c:pt>
                  <c:pt idx="8">
                    <c:v>11月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7511</c:v>
                </c:pt>
                <c:pt idx="1">
                  <c:v>89371</c:v>
                </c:pt>
                <c:pt idx="2">
                  <c:v>64862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2026年预测</c:v>
                </c:pt>
              </c:strCache>
            </c:strRef>
          </c:tx>
          <c:spPr>
            <a:solidFill>
              <a:srgbClr val="9BBB59"/>
            </a:solidFill>
            <a:effectLst>
              <a:outerShdw sx="100000" sy="100000" kx="0" ky="0" algn="bl" blurRad="50800" rotWithShape="1" dist="25400" dir="5400000">
                <a:srgbClr val="BDC3C7">
                  <a:alpha val="3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  <c:pt idx="6">
                    <c:v>9月</c:v>
                  </c:pt>
                  <c:pt idx="7">
                    <c:v>10月</c:v>
                  </c:pt>
                  <c:pt idx="8">
                    <c:v>11月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7511</c:v>
                </c:pt>
                <c:pt idx="1">
                  <c:v>89371</c:v>
                </c:pt>
                <c:pt idx="2">
                  <c:v>165000</c:v>
                </c:pt>
                <c:pt idx="3">
                  <c:v>180000</c:v>
                </c:pt>
                <c:pt idx="4">
                  <c:v>198000</c:v>
                </c:pt>
                <c:pt idx="5">
                  <c:v>200000</c:v>
                </c:pt>
                <c:pt idx="6">
                  <c:v>54000</c:v>
                </c:pt>
                <c:pt idx="7">
                  <c:v>1300</c:v>
                </c:pt>
                <c:pt idx="8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2026年度用水与收费预测分析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基于2025年同期数据对比与趋势预测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汇报日期：2026年5月10日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数据来源：安定灌区刷卡用水记录系统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2025年实际 vs 2026年实际（截至5月10日）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 · 2026年度分析汇报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st_water_usage_record | 生成日期: 2026-05-10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560320" cy="1188720"/>
          </a:xfrm>
          <a:prstGeom prst="rect">
            <a:avLst>
              <a:gd name="adj" fmla="val 7692"/>
            </a:avLst>
          </a:prstGeom>
          <a:solidFill>
            <a:srgbClr val="EBF5FB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2025年总用水量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552,362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立方米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1188720"/>
          </a:xfrm>
          <a:prstGeom prst="rect">
            <a:avLst>
              <a:gd name="adj" fmla="val 7692"/>
            </a:avLst>
          </a:prstGeom>
          <a:solidFill>
            <a:srgbClr val="EBF5FB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2026年已用水量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B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165,488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立方米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560320" cy="1188720"/>
          </a:xfrm>
          <a:prstGeom prst="rect">
            <a:avLst>
              <a:gd name="adj" fmla="val 7692"/>
            </a:avLst>
          </a:prstGeom>
          <a:solidFill>
            <a:srgbClr val="EBF5FB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2025年总收费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¥775,114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560320" cy="1188720"/>
          </a:xfrm>
          <a:prstGeom prst="rect">
            <a:avLst>
              <a:gd name="adj" fmla="val 7692"/>
            </a:avLst>
          </a:prstGeom>
          <a:solidFill>
            <a:srgbClr val="EBF5FB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2026年已收费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525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B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¥237,178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5256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29260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2025年实际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灌溉月份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5-11月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2-5月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提前3个月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春灌提前启动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总用水量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552,362 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165,488 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仅统计至5/10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总收费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¥775,114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¥237,178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平均水价¥1.12/m³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活跃用户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 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 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户均用水量增加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日均用水(5月)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1,988 m³/天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5,897 m³/天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+197%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用水强度显著提升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月度用水量对比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2025年实际 vs 2026年实际与预测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 · 2026年度分析汇报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st_water_usage_record | 生成日期: 2026-05-10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47548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2025年实际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2026年预测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7,511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7,511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新增春灌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89,371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89,371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新增春灌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22,886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64,862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165,000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+621%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150,153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164,926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167,224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45,076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全年合计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552,362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161,744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896,382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280160"/>
            <a:ext cx="4114800" cy="4754880"/>
          </a:xfrm>
          <a:prstGeom prst="rect">
            <a:avLst>
              <a:gd name="adj" fmla="val 2222"/>
            </a:avLst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关键发现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3749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春灌提前：2026年3月即开始灌溉，4月迅速攀升至89,371 m³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用水强度增加：5月前10天用水64,862 m³，超2025年5月全月2.8倍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全年预测：总用水量预计达896,382 m³，比2025年增长62%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用户数略降：活跃用户58户(-11%)，但户均用水量大幅增加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用水模式变化：从单峰(7-9月)转向双峰(4-5月春灌+7-9月夏灌)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收费预测分析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2026年度水费收入预测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 · 2026年度分析汇报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st_water_usage_record | 生成日期: 2026-05-10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2025年实际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2026年预测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预测充值水量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689,646 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980,000 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预测收费总额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¥775,114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¥1,097,600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平均水价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¥1.12/m³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¥1.12/m³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户均收费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¥11,925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¥18,924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月度峰值收费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¥293,226 (6月)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¥224,000 (8月)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峰值后移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月度收费预测明细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6858000" cy="109728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预测收费(元)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45,766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127,160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184,800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201,600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221,760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224,000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60,480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1,456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1,344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589520" y="1280160"/>
            <a:ext cx="4114800" cy="4663440"/>
          </a:xfrm>
          <a:prstGeom prst="rect">
            <a:avLst>
              <a:gd name="adj" fmla="val 2222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管理建议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72400" y="182880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水源保障：密切关注5-7月用水高峰，确保水源充足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水价策略：考虑阶梯水价，应对用水量大幅增长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用户管理：加强用水监管，避免浪费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设备维护：提前检修泵站、渠道，应对高负荷运行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收费管理：优化收费流程，提高收缴效率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用水趋势可视化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月度用水量对比与预测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 · 2026年度分析汇报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st_water_usage_record | 生成日期: 2026-05-10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8016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280160"/>
            <a:ext cx="4114800" cy="4114800"/>
          </a:xfrm>
          <a:prstGeom prst="rect">
            <a:avLst>
              <a:gd name="adj" fmla="val 2222"/>
            </a:avLst>
          </a:prstGeom>
          <a:solidFill>
            <a:srgbClr val="EBF5FB"/>
          </a:solidFill>
          <a:ln w="19050">
            <a:solidFill>
              <a:srgbClr val="28B4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趋势总结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用水模式转变：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从单峰型(7-9月)转向双峰型(4-5月+7-9月)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春灌强度：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2026年春灌(3-5月)预计261,882 m³，占全年29%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夏灌预测：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6-8月预计578,000 m³，占全年65%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秋灌尾声：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9-11月预计56,500 m³，占全年6%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峰值月份：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预计8月达200,000 m³，为全年最高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注：2025年5月数据仅含5天(5/26-5/31)，2026年5月数据含10天(5/1-5/10)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2026年度灌溉管理策略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安定灌区 · 2026年度分析汇报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0" y="6720840"/>
            <a:ext cx="5486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st_water_usage_record | 生成日期: 2026-05-10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486400" cy="2926080"/>
          </a:xfrm>
          <a:prstGeom prst="rect">
            <a:avLst>
              <a:gd name="adj" fmla="val 3125"/>
            </a:avLst>
          </a:prstGeom>
          <a:solidFill>
            <a:srgbClr val="E8F8F5"/>
          </a:solidFill>
          <a:ln w="19050">
            <a:solidFill>
              <a:srgbClr val="28B4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核心结论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用水量大幅增长：2026年预计总用水量896,382 m³，较2025年增长62%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灌溉季延长：从7个月(5-11月)延长至10个月(2-11月)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用水强度提升：日均用水量从1,988 m³增至5,897 m³(+197%)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收费收入增加：预计全年收费¥1,097,600，增长42%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用户结构变化：活跃用户减少11%，但户均用水量增加83%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86400" cy="2926080"/>
          </a:xfrm>
          <a:prstGeom prst="rect">
            <a:avLst>
              <a:gd name="adj" fmla="val 3125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管理建议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水源保障：提前蓄水，确保5-8月高峰供水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水价优化：考虑阶梯水价，引导合理用水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设备维护：春灌前完成泵站、渠道检修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用户服务：加强用水指导，减少浪费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数据监控：建立实时用水监测预警机制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11247120" cy="1828800"/>
          </a:xfrm>
          <a:prstGeom prst="rect">
            <a:avLst>
              <a:gd name="adj" fmla="val 5000"/>
            </a:avLst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下一步行动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5月中旬：完成春灌总结报告，评估用水效率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6月初：启动夏灌准备工作，检查设备运行状态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6月中旬：召开用水管理会议，调整水价策略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7月：建立实时用水监测平台，实现数据可视化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全年：持续跟踪用水数据，优化灌溉管理策略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2026-05-10T08:32:06Z</dcterms:created>
  <dcterms:modified xsi:type="dcterms:W3CDTF">2026-05-10T08:32:06Z</dcterms:modified>
</cp:coreProperties>
</file>